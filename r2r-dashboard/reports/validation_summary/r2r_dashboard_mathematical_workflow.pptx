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d941c12462436e" /><Relationship Type="http://schemas.openxmlformats.org/officeDocument/2006/relationships/extended-properties" Target="/docProps/app.xml" Id="R10f7ec4888c34cf4" /><Relationship Type="http://schemas.openxmlformats.org/officeDocument/2006/relationships/officeDocument" Target="/ppt/presentation.xml" Id="R16166b483b064c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9cfad767f4bc0"/>
  </p:sldMasterIdLst>
  <p:notesMasterIdLst>
    <p:notesMasterId xmlns:r="http://schemas.openxmlformats.org/officeDocument/2006/relationships" r:id="Rb9bc7f2e19bc47dd"/>
  </p:notesMasterIdLst>
  <p:sldIdLst>
    <p:sldId xmlns:r="http://schemas.openxmlformats.org/officeDocument/2006/relationships" id="256" r:id="Redddb886d3bd4cc2"/>
    <p:sldId xmlns:r="http://schemas.openxmlformats.org/officeDocument/2006/relationships" id="257" r:id="R10b3c43788224658"/>
    <p:sldId xmlns:r="http://schemas.openxmlformats.org/officeDocument/2006/relationships" id="258" r:id="Ref5ad545f63047f4"/>
    <p:sldId xmlns:r="http://schemas.openxmlformats.org/officeDocument/2006/relationships" id="259" r:id="R08d6ca288b1e4a4e"/>
    <p:sldId xmlns:r="http://schemas.openxmlformats.org/officeDocument/2006/relationships" id="260" r:id="Rcd9269a8af154b80"/>
    <p:sldId xmlns:r="http://schemas.openxmlformats.org/officeDocument/2006/relationships" id="261" r:id="Rcd5af047d8504459"/>
    <p:sldId xmlns:r="http://schemas.openxmlformats.org/officeDocument/2006/relationships" id="262" r:id="R4fb616156d1d4e33"/>
    <p:sldId xmlns:r="http://schemas.openxmlformats.org/officeDocument/2006/relationships" id="263" r:id="R03f694e11151493c"/>
    <p:sldId xmlns:r="http://schemas.openxmlformats.org/officeDocument/2006/relationships" id="264" r:id="R7ba53eac4d5941c4"/>
    <p:sldId xmlns:r="http://schemas.openxmlformats.org/officeDocument/2006/relationships" id="265" r:id="R6d5c77b2eb5940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9e20bc31824ee1" /><Relationship Type="http://schemas.openxmlformats.org/officeDocument/2006/relationships/slideMaster" Target="/ppt/slideMasters/slideMaster1.xml" Id="R2aa9cfad767f4bc0" /><Relationship Type="http://schemas.openxmlformats.org/officeDocument/2006/relationships/notesMaster" Target="/ppt/notesMasters/notesMaster1.xml" Id="Rb9bc7f2e19bc47dd" /><Relationship Type="http://schemas.openxmlformats.org/officeDocument/2006/relationships/presProps" Target="/ppt/presProps.xml" Id="R9082c6741e8a43b2" /><Relationship Type="http://schemas.openxmlformats.org/officeDocument/2006/relationships/viewProps" Target="/ppt/viewProps.xml" Id="Rb402157bcbec4277" /><Relationship Type="http://schemas.openxmlformats.org/officeDocument/2006/relationships/tableStyles" Target="/ppt/tableStyles.xml" Id="R9b68f4e8e3864614" /><Relationship Type="http://schemas.openxmlformats.org/officeDocument/2006/relationships/slide" Target="/ppt/slides/slide1.xml" Id="Redddb886d3bd4cc2" /><Relationship Type="http://schemas.openxmlformats.org/officeDocument/2006/relationships/slide" Target="/ppt/slides/slide2.xml" Id="R10b3c43788224658" /><Relationship Type="http://schemas.openxmlformats.org/officeDocument/2006/relationships/slide" Target="/ppt/slides/slide3.xml" Id="Ref5ad545f63047f4" /><Relationship Type="http://schemas.openxmlformats.org/officeDocument/2006/relationships/slide" Target="/ppt/slides/slide4.xml" Id="R08d6ca288b1e4a4e" /><Relationship Type="http://schemas.openxmlformats.org/officeDocument/2006/relationships/slide" Target="/ppt/slides/slide5.xml" Id="Rcd9269a8af154b80" /><Relationship Type="http://schemas.openxmlformats.org/officeDocument/2006/relationships/slide" Target="/ppt/slides/slide6.xml" Id="Rcd5af047d8504459" /><Relationship Type="http://schemas.openxmlformats.org/officeDocument/2006/relationships/slide" Target="/ppt/slides/slide7.xml" Id="R4fb616156d1d4e33" /><Relationship Type="http://schemas.openxmlformats.org/officeDocument/2006/relationships/slide" Target="/ppt/slides/slide8.xml" Id="R03f694e11151493c" /><Relationship Type="http://schemas.openxmlformats.org/officeDocument/2006/relationships/slide" Target="/ppt/slides/slide9.xml" Id="R7ba53eac4d5941c4" /><Relationship Type="http://schemas.openxmlformats.org/officeDocument/2006/relationships/slide" Target="/ppt/slides/slide10.xml" Id="R6d5c77b2eb5940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636c9f8ea40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35c59a39d4673" /><Relationship Type="http://schemas.openxmlformats.org/officeDocument/2006/relationships/notesMaster" Target="/ppt/notesMasters/notesMaster1.xml" Id="Rc1feca80318d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5174ee0364ef7" /><Relationship Type="http://schemas.openxmlformats.org/officeDocument/2006/relationships/notesMaster" Target="/ppt/notesMasters/notesMaster1.xml" Id="R8a956982e74440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2d01bec478441c" /><Relationship Type="http://schemas.openxmlformats.org/officeDocument/2006/relationships/notesMaster" Target="/ppt/notesMasters/notesMaster1.xml" Id="Rc7e8599f874147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7b39f2a8047ae" /><Relationship Type="http://schemas.openxmlformats.org/officeDocument/2006/relationships/notesMaster" Target="/ppt/notesMasters/notesMaster1.xml" Id="Rd29003283f76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9e29d45c3d4e07" /><Relationship Type="http://schemas.openxmlformats.org/officeDocument/2006/relationships/notesMaster" Target="/ppt/notesMasters/notesMaster1.xml" Id="R452695067e9047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62d214d6244946" /><Relationship Type="http://schemas.openxmlformats.org/officeDocument/2006/relationships/notesMaster" Target="/ppt/notesMasters/notesMaster1.xml" Id="R69e94ec5925e46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1d4a62086c45ad" /><Relationship Type="http://schemas.openxmlformats.org/officeDocument/2006/relationships/notesMaster" Target="/ppt/notesMasters/notesMaster1.xml" Id="R20e8ceaf3ce646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31bb542194fd3" /><Relationship Type="http://schemas.openxmlformats.org/officeDocument/2006/relationships/notesMaster" Target="/ppt/notesMasters/notesMaster1.xml" Id="R43d5e23e2eb5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80b3402c4e44fa" /><Relationship Type="http://schemas.openxmlformats.org/officeDocument/2006/relationships/notesMaster" Target="/ppt/notesMasters/notesMaster1.xml" Id="R7df4f47dd7c748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4c47d30f464a1b" /><Relationship Type="http://schemas.openxmlformats.org/officeDocument/2006/relationships/notesMaster" Target="/ppt/notesMasters/notesMaster1.xml" Id="R24c6bf4f67db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061e0c09a4b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2a95dee3df4a4d" /><Relationship Type="http://schemas.openxmlformats.org/officeDocument/2006/relationships/slideLayout" Target="/ppt/slideLayouts/slideLayout1.xml" Id="R1eb860ed365743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860ed3657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4c45e57a24ba7" /><Relationship Type="http://schemas.openxmlformats.org/officeDocument/2006/relationships/image" Target="/ppt/media/image.png" Id="R8a3fc3ac87c54264" /><Relationship Type="http://schemas.openxmlformats.org/officeDocument/2006/relationships/notesSlide" Target="/ppt/notesSlides/notesSlide1.xml" Id="R4d1f4def3a29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e3f585a9146de" /><Relationship Type="http://schemas.openxmlformats.org/officeDocument/2006/relationships/notesSlide" Target="/ppt/notesSlides/notesSlide2.xml" Id="R22376af9da6a42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3e304de7a4838" /><Relationship Type="http://schemas.openxmlformats.org/officeDocument/2006/relationships/notesSlide" Target="/ppt/notesSlides/notesSlide3.xml" Id="R2cce80c2f7094b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827f22376457b" /><Relationship Type="http://schemas.openxmlformats.org/officeDocument/2006/relationships/notesSlide" Target="/ppt/notesSlides/notesSlide4.xml" Id="R0b0858baa0c049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1d39fe34a4499" /><Relationship Type="http://schemas.openxmlformats.org/officeDocument/2006/relationships/notesSlide" Target="/ppt/notesSlides/notesSlide5.xml" Id="R5548eceba132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ac6b263d40b6" /><Relationship Type="http://schemas.openxmlformats.org/officeDocument/2006/relationships/image" Target="/ppt/media/image2.png" Id="Rd297f3f4ae874ca3" /><Relationship Type="http://schemas.openxmlformats.org/officeDocument/2006/relationships/notesSlide" Target="/ppt/notesSlides/notesSlide6.xml" Id="Rc29e575a2c8341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3ae85c0644027" /><Relationship Type="http://schemas.openxmlformats.org/officeDocument/2006/relationships/image" Target="/ppt/media/image3.png" Id="R60fdd22ae0034010" /><Relationship Type="http://schemas.openxmlformats.org/officeDocument/2006/relationships/notesSlide" Target="/ppt/notesSlides/notesSlide7.xml" Id="R6e648b46ff0d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c335b60347b9" /><Relationship Type="http://schemas.openxmlformats.org/officeDocument/2006/relationships/image" Target="/ppt/media/image4.png" Id="R2c7f5112b5084d18" /><Relationship Type="http://schemas.openxmlformats.org/officeDocument/2006/relationships/notesSlide" Target="/ppt/notesSlides/notesSlide8.xml" Id="R90d7ab710f2743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0881f270d4066" /><Relationship Type="http://schemas.openxmlformats.org/officeDocument/2006/relationships/notesSlide" Target="/ppt/notesSlides/notesSlide9.xml" Id="R723756fd371e47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080f04d9543e6" /><Relationship Type="http://schemas.openxmlformats.org/officeDocument/2006/relationships/notesSlide" Target="/ppt/notesSlides/notesSlide10.xml" Id="Raa441f5cf98f40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3B4546-F06C-40AF-A8CB-620F323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F0289-1A40-4AE5-871A-D050403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09C24-882B-42BC-9651-3EB5F251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R2R Dashboard Mathematical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7277D-B592-4DD0-8282-51B8FF0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28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Working equations, plant presets, excitation cases, simulation metrics, SysID estimates, and validation roadmap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fc3ac87c54264"/>
          <a:stretch xmlns:a="http://schemas.openxmlformats.org/drawingml/2006/main"/>
        </p:blipFill>
        <p:spPr>
          <a:xfrm xmlns:a="http://schemas.openxmlformats.org/drawingml/2006/main">
            <a:off x="550185" y="1219200"/>
            <a:ext cx="1109163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FAD58-8ECB-4875-B369-4DD6993F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F0C7E-D2F3-447E-900C-A8E13591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Simulation: tension RMSE + overshoot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2CA49-545E-46EB-A0D1-4145DCC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57825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3C960-111F-431C-85C6-8EBEB985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05450"/>
            <a:ext cx="1762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SysID: kt, kf, 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F8285-335A-4C3F-AAA6-7D11AAF6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5782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4CF79-9FF7-4D74-8E57-AFF6E395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5450"/>
            <a:ext cx="2047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0EA5A4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0EA5A4"/>
                </a:solidFill>
                <a:latin typeface="Aptos"/>
                <a:ea typeface="Aptos"/>
                <a:cs typeface="Aptos"/>
              </a:rPr>
              <a:t>Validation: logging, drift, retuning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77BE9-EF15-4748-A353-BC0C7576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5782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E9031-9DA5-4B8E-94CD-DBE8209E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05450"/>
            <a:ext cx="2047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Plants: P01-P10 EA presets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3B2EA-31EA-4B90-BE86-AEA7C93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578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D856D-06CB-4E7C-997B-77396DB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505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8C925-AD77-44D9-914D-E751D33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E1040-B4F4-4D79-A88B-D9044E27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48434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104EC-B6D4-403A-AA37-949461C5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A8648-1FAB-4D67-BBAD-C60C6A87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F73C5-2EDF-45F9-957B-21E6F2F4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How the Dashboard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DA0C-1CEC-490A-A77A-CEB69BA7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56882-0F10-4B94-BA53-AF7C4434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DDBFB-2BB0-4DE4-A8E9-5CC2958C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44BD0-B644-4976-87DA-2CD7BA6A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1. Plant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03758-E0A6-461B-B704-3AF67DB5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P01-P10 preset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EA_N + metadata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baseline R/L/J/f/b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8AD52-C423-4831-BFB3-E9A26328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7621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03E23-3298-4A0A-A4AF-D4BCCDE6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695450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E76CD-10E9-422B-8C73-8BD538DB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1811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92471-AD5B-4BA9-B8E8-8385E4F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4302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2. Excitation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7A558-B68D-47E7-89E8-A1674469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5735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ET1, ET3, ET6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E_Toggle, EVR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amplitude + noise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5B1DA-E90B-4FFC-9947-DA169749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621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C8009-06DF-4CDF-96B0-0F2E6B4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95450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5A1C2-DC89-4C01-9877-B0A184E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811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95B43-D028-4FDE-BB6D-82AFE04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4302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3. 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1EA72-B6C5-4A1E-A4A2-CAE46BF6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5735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Outer tension PI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velocity PI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ZOH motor voltage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6BE0A-3762-441E-984B-AAE7823E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621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57669-9784-415F-8B4B-68A4BD1C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95450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26EB0-3F23-4E45-B345-3C85172E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811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EE4A4-353F-4C18-A75F-A092007E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4302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4. RK4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B556D-7F6B-4E49-988D-EE0D3D0A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 ms physics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tensions + speeds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logged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E8537-11BB-45E7-A0D5-E5814A7E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621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85B10-E605-423A-ACD1-B41D8594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695450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DC1F90-A292-46B4-A003-8570CDB5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1811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09625D-1A01-4A4F-B0B2-7D2CC667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4302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5. Outputs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E15CA-A389-4C34-AD7F-FDAF1AE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Simulation metrics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SysID estimates</a:t>
            </a:r>
          </a:p>
          <a:p xmlns:a="http://schemas.openxmlformats.org/drawingml/2006/main">
            <a:pPr algn="l">
              <a:defRPr sz="95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plots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BFFAF-C12C-425B-891F-3B64A22E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838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8CD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AB8FA-0B72-444D-AB68-44296E3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53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Simulation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55E85-F84F-4760-A82A-D620275E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6F5AC-C306-4875-9C9B-2D39C73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selected plant changes the physical stiffness used in the state equations.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18C16-3D46-4475-BDD5-12E094CC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9B83D-8770-4DBD-ABAD-7988F8FC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Excitation adds repeatable motor-voltage perturbations to the closed-loop controller output.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9C69FA-330E-45CC-ABA4-C631B82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756AF7-D644-41B2-A6C8-D47F3A29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simulator logs T1/T2/T3, omega_UW/omega_Nip/omega_RW, motor inputs, and velocities.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E55640-5C1F-4DDB-B29A-DC543B7F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7ABCD3-C968-4943-96E3-46D226D3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result panel summarizes tension_rmse_N, max_overshoot_N, t90_s, control_effort_rms_V, samples, and duration.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B9622C-00C6-4617-8605-CD47D9F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838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F50859-2F24-467B-B93C-BC935D36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453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SysID and validation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F33FB5-B010-4445-8F53-BC8F61C4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57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9424B-4DBB-4D54-BCC5-9132BEC8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Logged simulation rows become the regression data for parameter identification.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0D5848-EC7A-44C4-A323-CDFFD1DC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8B9197-80FB-4A02-8C94-06E9B83B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SysID estimates kt_UW, kt_Nip, kt_RW, kf_UW, kf_Nip, kf_RW, and EA.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B51000-90BF-4395-A962-3D148CF3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35D043-43A2-4CEC-A7B8-79CA783E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tabs compare logging rate, excitation profile, drift sensitivity, and retuning cost.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CDEAD1-29B3-42FA-9AD9-8BD7752E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AB8FC0-E665-4261-8155-9B56FBE6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4210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Calculation panels show one worked example so every output can be traced back to equations.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6513D0-8CF7-4A4E-AFBB-EB710EE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CE2E0C-6872-45EA-BF55-71798E51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18665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D0030-CE16-41E7-A78C-70E6C5F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27B9-C460-4D3F-B29B-F34A2F91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E74A2-268B-44EC-9E30-0B494997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Core State Equations Used by the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0E067-AC89-41B6-86F9-26CF8165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46543-D8B2-4205-90A1-106D6B72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2D136-6A7B-4C89-B680-7B6312D5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E2C62-230E-4AAE-94D6-2D04354D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A5A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EA5A4"/>
                </a:solidFill>
                <a:latin typeface="Aptos"/>
                <a:ea typeface="Aptos"/>
                <a:cs typeface="Aptos"/>
              </a:rPr>
              <a:t>State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068D4-E286-46E7-A287-8332BBA7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028700"/>
            <a:ext cx="8096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equations tab now shows only equations that feed backend simulation, metrics, and SysID.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46334-E22A-4CDA-AE63-F6E8BEB5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C9C17-CA49-43C2-B1CF-10C4922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State and input vectors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13E25-C2FD-41E1-80A6-46D4EAF3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x = [T1, T2, T3, omega_UW, omega_Nip, omega_RW]</a:t>
            </a:r>
          </a:p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u = [u_UW, u_Nip, u_RW]</a:t>
            </a:r>
          </a:p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v_i = R_i * omega_i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3554A-2466-4A19-BBF4-F6DEDBB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28750"/>
            <a:ext cx="5524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AF06F-73A3-4593-8CCA-2EC3A54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Web torque balance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C492C-B33D-44BB-A52B-61046BD6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521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tau_web,UW  = (T3 - T1) * R_UW</a:t>
            </a:r>
          </a:p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tau_web,Nip = (T1 - T2) * R_Nip</a:t>
            </a:r>
          </a:p>
          <a:p xmlns:a="http://schemas.openxmlformats.org/drawingml/2006/main">
            <a:pPr algn="l">
              <a:def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tau_web,RW  = (T2 - T3) * R_RW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927C3-8A6C-487B-A38F-0A23B226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143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6"/>
          </a:solidFill>
          <a:ln xmlns:a="http://schemas.openxmlformats.org/drawingml/2006/main" w="9525">
            <a:solidFill>
              <a:srgbClr val="BFED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1636E-048F-4083-9233-9E6C1B73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83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A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A4"/>
                </a:solidFill>
                <a:latin typeface="Aptos"/>
                <a:ea typeface="Aptos"/>
                <a:cs typeface="Aptos"/>
              </a:rPr>
              <a:t>Reduced three-span tension dynamics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41BE7-522D-41B8-A281-6892B264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838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dT1/dt = (EA/L1)(v_Nip - v_UW) - lambda_T(T1 - T1_ref)</a:t>
            </a:r>
          </a:p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dT2/dt = (EA/L2)(v_RW - v_Nip) - lambda_T(T2 - T2_ref)</a:t>
            </a:r>
          </a:p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dT3/dt = (EA/L3)(v_RW - 0.5(v_UW + v_Nip))</a:t>
            </a:r>
          </a:p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         - lambda_T(T3 - T3_ref)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8E3FD-F167-4895-AC40-5D9D481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4629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8CD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1A954-785A-4051-BCF8-369002B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Roller velocity dynamics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C9003-358F-481F-887B-5FF591C6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4324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domega_i/dt = (kt_i*u_i + tau_web,i - kf_i*omega_i) / J_i</a:t>
            </a:r>
          </a:p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J_i: roller inertia</a:t>
            </a:r>
          </a:p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kt_i: voltage-to-torque gain</a:t>
            </a:r>
          </a:p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kf_i: viscous friction</a:t>
            </a:r>
          </a:p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u_i: motor voltage command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C53E1-6209-49CE-BBA6-E457AAC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007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BB8DA-4F68-4632-BBD2-B6DC5735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34ABF-5C49-4865-89C1-5365A9DB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3525"/>
            <a:ext cx="935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These equations create the next state used for controller updates, metric calculations, and the logged rows that feed SysID.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99363-BE47-4DB8-A474-FE7250C8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A3EB6-8E3A-456D-9CD6-30BF79F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3118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9FBE6-136F-4CFA-9B90-80F2446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71B42-617D-48A7-A1EF-BC1F1541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D731D-8C55-4EB1-BEAC-84DA32D8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Controller, ZOH, and Time Scales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AB0D0-964C-4949-9D33-6125E53C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F3FF4-FF38-48B6-978E-CE19A3E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9A657-89B7-4DB2-A006-7C01CA1B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105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C2D5E-34FC-4752-BD15-0E5EBD3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Outer tension PI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ECAE6-8326-4154-9CF6-2C5C764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800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e_i = T_ref,i - T_i</a:t>
            </a:r>
          </a:p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c_i = Kp_star*e_i + (Kp_star/TI)*integral(e_i dt)</a:t>
            </a:r>
          </a:p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v_ref,UW  = v_line - c1 - 0.5*c3</a:t>
            </a:r>
          </a:p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v_ref,Nip = v_line + c1 - c2 - 0.5*c3</a:t>
            </a:r>
          </a:p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v_ref,RW  = v_line + c2 + c3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D844F-DFBE-4E8E-A882-E3E37BCE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066800"/>
            <a:ext cx="4762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BBE7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582FA-CA1F-4DA6-B750-8BC56F8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18110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Velocity PI and feedforward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BEB74-1E4C-4210-A6A0-C41BEF68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4457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tau_cmd,i = Kvel*e_omega,i + (Kvel/TI_vel)*integral(e_omega,i dt) + tau_ff,i</a:t>
            </a:r>
          </a:p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tau_ff,i = kf_i*omega_ref,i - tau_web,i</a:t>
            </a:r>
          </a:p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u_i = clamp(tau_cmd,i / kt_i)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05BA5-1622-4B59-9D31-5FD179A4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02618-ACB7-498C-BA9B-E156A3EE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1400D-191B-4421-B749-C742CD97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Every 1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EFA90-A5DA-41EC-B636-583B586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RK4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7BC5D-96F7-4C22-8190-2AD60C14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physics step updates tension and roller speed.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D4B04-C323-4166-B6B1-919E227E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29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D8930-0B48-44B5-B9C5-AD6E5C3D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62375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61A58-DB79-4E2B-8957-A2B822B7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E4EB8-3214-4815-9548-4E3872B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7FC3B-153D-4C09-9417-7FF7425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623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Every 10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87E20-5186-4322-8FFC-4469668A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290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5C48F-2A27-4AC1-A6BD-4BC3B6AA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Controller computes a new motor-voltage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D880B-2CD9-4AF1-9A1B-E563BF00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1710D-6DF8-455A-B042-86E26227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62375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FA3A9-B0A2-4980-B57F-4C9F4D5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02B3F-087B-4DF0-9C9E-96A4CF6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44347-4A17-4F30-B241-B90FBFBD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623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Between PI ticks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692C5-607F-4381-B347-2C006B5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290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ZOH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F9F67C-9DDC-4385-89D5-5687B2E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Held input u stays constant while RK4 keeps integrating.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701BD9-DAA2-4004-ABC8-B3022B2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29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91ADBE-ED81-4E17-B22C-01321DEE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62375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4BCD6-733C-41A6-B4A7-67079931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6D18E5-AF10-41A0-91AF-62CD57C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0812AC-2AE5-4C05-A7CD-D57F9F2A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623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Every Tlog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393FE-10F8-48E1-B936-ED729C6D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290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PLC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D74851-ABAE-4D6F-8153-9D2CFFE3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Logged data becomes the source for SysID.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D49655-646F-417D-9447-82955FBF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40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CAC6B2-5EE3-4D8A-883F-435B1340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BEDCFD-5F71-40BC-AD57-169AB02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1BE7C3-1C8A-46C0-9D60-1D3EBE33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8705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If Ts = 10 ms and dt = 1 ms, one controller action contains 10 small physics calculations. Logging at Tlog = 20 ms records every second controller action, which directly affects SysID data density and accuracy.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C17B66-5FCF-4D93-B21D-74DCF213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6DD86C-03A2-474A-8325-AA8F99B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6532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F8CB1-0B38-4740-ADC3-8928069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98CA5-752D-4B6D-9CDE-3848DB39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0B306-A70E-4950-81F8-30FEA97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Plant Presets: What Changes Between P01-P10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55810-73D0-48B1-9EC6-F659231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28E04-D273-4418-8DEA-50B02D7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109B-7A41-4D19-BB1D-57FECBA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BBE7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80181-3AAF-4345-BE3B-7AD712B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144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Current dashboard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F392E-3BBD-47EE-8AD8-B0161272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942F6-5A65-4752-9EFA-3A856D32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Each plant uses supplement Table S12 EA_N and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EF0E5-D786-4746-93C7-DFF4CF1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3A8C5-8283-4371-9B08-800408C2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859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Exact per-roller R, L, J, f, and b arrays are not yet supplied in the extracted JSON.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7426D-3250-4ECE-BBA5-E8D780B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21184-BE55-49DE-8EAC-9135F5D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backend therefore keeps baseline R/L/J/f/b until those arrays are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FEF35-EC67-4DF2-B874-ED73C62E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000125"/>
            <a:ext cx="2552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8CD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5A1D2-A80A-4393-BE1F-FD6407A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14425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Dynamic safety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256F0-D617-4ABC-87D1-DA0CC85B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00175"/>
            <a:ext cx="2133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P01-P02 are inside the extracted baseline EA range. P03-P10 are high-EA cases; the app recommends zero excitation unless retuned inputs and exact arrays are supplied.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61C68-9322-4188-9DC5-F77406F3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00125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2B527-9595-4494-A98F-E78AE7AB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11442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Why plant choice changes 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68D1E-F9DF-48BC-A25F-6D37797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00175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EA multiplies strain rate in dT/dt. A stiffer web converts the same speed mismatch into a larger tension-rate response.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B6D4D-5146-4E00-BBBA-88474A95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629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9525">
            <a:solidFill>
              <a:srgbClr val="0B1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F4381-5D9F-450D-B92F-37EF8CC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32BFC-A2CB-47B9-BDED-5C76CF8B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574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 /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B8720-511B-4C22-98B5-6C1C789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5747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EA_N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4E7B1-D142-4EC6-A857-23069206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57475"/>
            <a:ext cx="657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F1EFF-DBD1-4886-A6AD-72500EAB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Recommended 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4BA3B-197D-455A-8371-89D9A533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8EE0A-6721-478B-8C24-B2A6FD4E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EF19C-14E1-439A-867E-7428B5DD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6227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 / 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E7264-5CC1-4AA0-AD3D-A52BAD2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3,200 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DC101-6D2C-44C6-BE26-C51802F7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62275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O-UD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EFF91-3B6F-44A6-AB8C-A6FB39B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62275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0.080 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4874C-9F64-4575-BBD3-E8C282D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B6BDA1-5967-4F65-A542-C3BB7105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074DB-B865-486F-9CC8-890DE269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766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PET / lab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27CADF-17B0-44F3-B9C0-D845C2C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9,600 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D604E-89F5-41BD-9A10-8EEE064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76600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O-UD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E82CCC-A251-4F15-A8C5-32A2C992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0.046 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67CAA5-3924-4D1D-9742-C80E532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96B1EC-E99D-4FEB-9769-52818F87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6D041D-6717-4B26-B5F2-6F9D4107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9092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PET / lab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BD15A0-6816-4F86-B378-D1ADF71D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9092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40,000 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435855-31F5-44E7-A86F-32153254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90925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H-Osc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7C3D03-FB6B-4D82-BC35-9BF95AD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90925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D0BF5A-3803-423D-8C31-A4775CA2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DCB229-8EA5-431A-86DF-3E288EFA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0AE749-1B18-4C52-B53D-3EE8D098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PET / pilot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44D7E1-77CE-4E9A-B320-E63764B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50,000 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10F7F3-E200-4F0B-AFFA-D46E8A4B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05250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O-UD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A20479-25E6-487C-BA75-C1935B24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2CC2D2-5E3B-4033-882A-4EBE340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BD56F9-058F-43A7-9E0D-8A7F2E97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EAD3F2-7638-456C-8D56-E00B61FC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957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Paper / prod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820D5C-F66F-4294-8741-F933D914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144,000 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A00C07-613A-4DAA-A6B1-E66B9CDD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19575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O-UD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5B62E4-07AA-4D24-87CF-CEF84DD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19575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2BC845-9C97-445F-A6C1-1B5ED33B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941DA9-D38E-47E7-AB95-132FA807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51A516-56C9-4572-9354-7A8EA82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Al / lab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AD6AE2-BFB3-4327-A143-644B7EB8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310,500 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AD4217-1B09-42B8-A813-4501D454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33900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H-Damp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287BC1-2694-4237-9252-4510E3D5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54013-E52F-43ED-AC48-A7D8C78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9969F0-D6BA-4606-86C6-403C5790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10EB1F-AA4A-4A7C-A050-F9171FA8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4822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Al / pilot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98F7D9-1D1E-4BA5-BC66-A8319C29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4822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414,000 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29B84D-EECA-4C58-8EEC-5DA87D62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48225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H-Osc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11EAF2-6AB8-4E62-92B5-D1DE491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48225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5E969A-37CA-474F-88F0-316258F0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C6E58C-03CB-47D9-AF8C-AB4881D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3CBE5B-88F9-4E60-82EC-E59D30F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Al / prod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3392CB-3AC6-4678-883E-BF4CE81C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625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1,242,000 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0CB9B1-EAA3-4BF3-9548-3D910739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62550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O-UD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8C152C-9E93-48D7-AD7A-FA3A7EA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625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8CD98B-FC80-45F3-83CE-9E09644E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9011E-1DA3-41BE-B6C0-B4D0296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P09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37FC386-4E64-41D5-AFC7-3203C86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7687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Cu / lab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061B87-1A6C-4AFF-AC5E-BFAACF2D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351,000 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0A86B95-5905-4EB6-BB72-0620D06E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76875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H-Damp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2F68B6-4EE9-467D-85F8-8B2392C0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76875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728366-CC19-48FB-B3FF-181B9315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5629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2898F5-7639-4EE6-A78F-39D0172A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8FB4F6-F171-413F-BA8F-391A8C6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91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Cu / pilot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710395-732A-4D07-8653-36C8D397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912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351,000 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F617BD-0F64-4AA7-BD0E-51611394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91200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O-UD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7C9927-1687-48AD-AB43-043ECFC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7912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 V safety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ABB27B2-AE95-44C6-98FF-B7EDB644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8167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BBE1EFC-7736-41DA-B8AC-916A23D9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2930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Validation meaning: plant comparisons are EA-driven until full per-roller arrays are added.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944F0E-66EF-41E7-98E8-2A77AEB9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B9FB5E-C676-4840-ABF7-5F3143FA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30293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AFB55-716D-44CE-8CDA-8A4C6FCC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3F5CC-2D6C-4B15-B87E-5CAD3D1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A9618-B721-496D-A654-FEB47BF5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Excitation Types: What Changes in the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FA34A-6404-482C-9F3C-8A75D5A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AC92F-1D8C-4EE3-AECA-FBE65C1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44418-465E-42F5-BB6F-C06FF206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9525">
            <a:solidFill>
              <a:srgbClr val="0B1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9C90F-C575-4202-976D-E314CF02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847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EF5E4-4A3A-4D87-981A-6AFD6C3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1334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FE766-5ACC-4146-86F1-F266DD9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334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A603-BB34-4DAE-BC27-1DF87928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133475"/>
            <a:ext cx="4848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Changing factors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E3613-3DBD-42E1-871C-1E3848C6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906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5372B-8B41-466B-9B3D-57D77DAA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847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ET1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8223A-5F57-4AA1-A3B1-26EC2929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438275"/>
            <a:ext cx="1695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single-channel sine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9E871-14C5-4083-AA83-5F4214EB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382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UW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B7E84-0C64-4B77-9B3F-8780B627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38275"/>
            <a:ext cx="4848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0.70 Hz sine on u_UW; u_Nip and u_RW are zero.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9BD92-4B95-4B44-9E51-6F6122B8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906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40E59-5AD6-40C7-B185-5F0829CA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847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ET3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646AF-3FD8-457B-88AA-F19679EC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838325"/>
            <a:ext cx="1695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three-channel sine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6F1B7-C724-47DB-A4DC-C2E45184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383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UW, Nip, RW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51FFA-3B8E-4871-8F72-9FF0CE4C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38325"/>
            <a:ext cx="4848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0.55, 0.80, and 1.10 Hz sine waves with phase offsets.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CAC2E-A85C-4FA3-B4C4-FC66F259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906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9CAB4-EC6F-4A20-A634-43F58DB3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847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ET6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4EC5B-9D2B-4E1F-AB33-5F9D9EDF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38375"/>
            <a:ext cx="1695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three-channel multi-sine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4FC70-F440-4C52-9390-59C04E3F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UW, Nip, RW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96CC3-03FB-4573-BD36-AF6D8858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38375"/>
            <a:ext cx="4848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Two sine components per motor input; richer frequency content than ET3.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293CD-35FE-4677-9EE8-C33A62E6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906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272B8-4426-4BD1-A5B1-A916046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847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E_Toggle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A79E9-021D-455D-9699-110F473E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38425"/>
            <a:ext cx="1695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three-channel square/toggle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F6A99-5790-4075-A4D0-C87E64C9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384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UW, Nip, RW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D4DB8-195F-4585-A241-7519E6CB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38425"/>
            <a:ext cx="4848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Square waves with staggered 0.42, 0.58, and 0.74 s periods.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4E9758-4E31-4BCA-BF0A-BF21A98B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906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653467-6F54-4A29-81A6-20E67A79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847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EVR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306747-97BC-433A-87D2-C19A2980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38475"/>
            <a:ext cx="1695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event-varying random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88CD33-5369-40C9-B75D-67D06A0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UW, Nip, RW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013788-1EFF-48CF-B2CF-7E608F2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38475"/>
            <a:ext cx="4848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Random held voltage values updated in 0.15 s buckets.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061045-0B04-4042-9158-B1388A9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6"/>
          </a:solidFill>
          <a:ln xmlns:a="http://schemas.openxmlformats.org/drawingml/2006/main" w="9525">
            <a:solidFill>
              <a:srgbClr val="BFED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5B2206-140D-426F-A346-F7E74BE3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55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A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A4"/>
                </a:solidFill>
                <a:latin typeface="Aptos"/>
                <a:ea typeface="Aptos"/>
                <a:cs typeface="Aptos"/>
              </a:rPr>
              <a:t>Why excitation changes the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72C094-2278-4EFF-AFB7-9D318782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Excitation changes which motor channels move, how much frequency content reaches the system, and whether the logged data contains enough independent motion to identify kt, kf, and EA.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B5FF60-02FC-4C06-9FBE-A286F892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52850"/>
            <a:ext cx="4286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8CDA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6043DA-5A71-4752-BF7D-3A099E5B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67150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Dashboard behavior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729E32-B111-43F3-BE3A-6EF19C92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529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Amplitude, tension noise, and omega noise alter the data quality. Larger amplitude improves excitation but can destabilize high-EA reduced-model runs; noise degrades SysID accuracy.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7f3f4ae874ca3"/>
          <a:stretch xmlns:a="http://schemas.openxmlformats.org/drawingml/2006/main"/>
        </p:blipFill>
        <p:spPr>
          <a:xfrm xmlns:a="http://schemas.openxmlformats.org/drawingml/2006/main">
            <a:off x="2067000" y="5191125"/>
            <a:ext cx="7543651" cy="11049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BC62D2-F8B3-4809-9FC2-93D83864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47072D-A8AA-4297-9A13-CFFC0D8B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90975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Equation tab</a:t>
            </a:r>
          </a:p>
          <a:p xmlns:a="http://schemas.openxmlformats.org/drawingml/2006/main">
            <a:pPr algn="ctr">
              <a:defRPr sz="788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8CEA67-B982-4604-9970-B048E84A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4080BA-08A5-46A6-A79A-E07C92C8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48252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41834B-8D12-481C-913D-7832505C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D25BE-2056-4D82-8951-13E393A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2C293-B94C-4691-9E50-36419589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Simulation Outputs: Tension RMSE and Overshoot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82604-A6E0-415C-B37E-20F6E60E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EAF42-DBCE-4704-853B-13DD65A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97AA5-A480-4912-9184-A5D2759C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8CDA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72C4B-FA91-46DE-8AF4-38ADDDB7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Metrics calculated after each simulation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00F89-1B5F-4097-B263-DA14D6C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64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tension_rmse_N = sqrt( sum((T_i[k] - Tref_i)^2) / (3N) )</a:t>
            </a:r>
          </a:p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max_overshoot_N = max_i,k( T_i[k] - Tref_i )</a:t>
            </a:r>
          </a:p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control_effort_rms_V = sqrt( sum(u_i[k]^2) / (3N) )</a:t>
            </a:r>
          </a:p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t90_s = first logged time all spans enter the settling band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A95A6-4610-467C-98D7-70F32AF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668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1403C-8581-48D8-99F4-E76C2809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66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A77E9-13A7-4733-A84A-03999B3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096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FBBB5-F8B3-421C-851A-A3A76C2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763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69CDD-DCE9-44F2-910B-26029C85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Average tracking error across T1, T2, and T3.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959BE-868F-4ADF-BFFB-2F4586B1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668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D68D9-B59D-4BB0-9FE1-B97457A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66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859CA-4AE0-45D2-A724-F1633A08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096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78AD1-AA65-4F93-9B58-73A06F4D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763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Overshoot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83FC4-E912-4106-BAFE-5F286579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Largest positive tension excursion above target.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15700-31C6-43CA-82BE-7578C132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CE166-9F72-498C-8612-4441E1A3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40358-79B9-4D77-BA8E-6E673665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096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Workbook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42818-DD37-4D60-AFFE-019580A5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763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XLSX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D5ED9-9505-4796-AC99-EAF39638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47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Summary sheet plus time-series data sheet.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DFB6C-AF16-4ECA-A9B8-608CC226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4577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8BAB1-FA55-4A26-957F-287F7914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How to read the simulation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070F98-338E-4C6F-B165-DA667324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04543-D929-4379-AFDF-942917A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Plant changes EA_N and therefore the stiffness term inside dT/dt.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68B78-47F1-44E0-A194-0318FCA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B3E63A-3F50-4B83-80D4-98C033F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Excitation changes the voltage waveform added to u_UW, u_Nip, and u_RW.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CAE239-C9A7-4034-A54C-F830C07E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8AD646-0FE4-4F46-A5FD-D05F9A05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app logs each simulated state, calculates metrics, and writes the Excel summary for download.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D7DF77-F8D9-42FC-B473-AA8FBAB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C5FFD3-B14A-4D20-AC07-79FEA97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76725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Comparing plant/excitation pairs shows which inputs keep tension tracking stable.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dd22ae0034010"/>
          <a:stretch xmlns:a="http://schemas.openxmlformats.org/drawingml/2006/main"/>
        </p:blipFill>
        <p:spPr>
          <a:xfrm xmlns:a="http://schemas.openxmlformats.org/drawingml/2006/main">
            <a:off x="6321461" y="2743200"/>
            <a:ext cx="3711503" cy="25717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84E133-5EC2-4B2E-B4AF-A7BE0481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Example report graph: plant-by-excitation tension RMSE comparison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EE7D1E-CFD3-41A9-B253-5234123E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6F86DC-93C8-478B-B1BD-000BA30E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72228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2FC05-55FC-4304-B777-98F2FC73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AB5F2-21F3-4678-A526-D4BF1633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10257-DF66-4E00-94F9-C5D6F6C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SysID Outputs: kt, kf, and 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9076F-9080-495E-82DE-3728CE20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0CC31-5869-4EC7-970F-881E387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C4FE8-6C0D-4BEE-88E5-E0B21CF0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5219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491E3-D3BC-4F63-A09A-48F393DB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491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Motor parameter regression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72D89-F9B4-47BC-93EB-6D23D443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4914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J_i*domega_i/dt - tau_web,i = kt_i*u_i - kf_i*omega_i</a:t>
            </a:r>
          </a:p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Solve a two-parameter least-squares problem per roller:</a:t>
            </a:r>
          </a:p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[u_i, -omega_i] * [kt_i, kf_i]^T = J_i*domega_i/dt - tau_web,i</a:t>
            </a:r>
          </a:p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Outputs: kt_UW, kt_Nip, kt_RW, kf_UW, kf_Nip, kf_RW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806B4-4352-4574-A983-B5919EE3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047750"/>
            <a:ext cx="476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BBE7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92B55-D1F6-4DB2-980F-0342337F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620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Web stiffness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34416-275E-4EBA-AF3A-17FAFEA5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4457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dT_i/dt + lambda_T(T_i - T_ref,i)</a:t>
            </a:r>
          </a:p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    = EA * speed_strain_i / L_i</a:t>
            </a:r>
          </a:p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All spans share one least-squares estimate of EA.</a:t>
            </a:r>
          </a:p>
          <a:p xmlns:a="http://schemas.openxmlformats.org/drawingml/2006/main">
            <a:pPr algn="l">
              <a:def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45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Output: 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E285B-8DE7-4ACB-A5E0-DD1A1BE9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2114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9C650-1180-4EFE-93DD-112FA97B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FFC04-FCDF-4952-B01D-7EEEE59D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Estimator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5C58C-EEA7-460D-9E78-971720C8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ktension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36C40-A0FD-45DE-9FD1-64D2B82E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Voltage-to-torque gain group reported as kt_* estimates.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C3443-BB4E-4361-B9B1-4DFD31C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2114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890FD-EDFC-4EA3-9DA7-0E3930C4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ABEE8-8272-4D5D-9C0B-56D5DC07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146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Estimator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6A296-6C0D-4D09-BA57-F1E6EEC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kfriction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87AA0-A8B9-4264-A181-4D98D98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Viscous-friction group reported as kf_* estimates.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117BD-B7F7-41D1-99FD-4A4DCC6B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2114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DA088-2755-4722-AFC3-CA89E51E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7CF21-0B0B-41D1-B06B-858CEA8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146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Estimator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E3E9B-C5D3-4F78-9735-5E0BD567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813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EA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E2D1E-3BC8-44A3-B637-15DD739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528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Elastic modulus-area product estimated from tension dynamics.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FDE63-3F7F-472C-8BC2-892F234C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2914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1ED4D-D9F2-4C52-9843-64CA9649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Why excitation matters for SysID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175B3-0CA8-4A10-A01D-7FC0232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24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7D799-3B0F-45CB-A275-4814C4D1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362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single channel can leave some parameters weakly observed.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5F567-0A85-436F-8FD3-3F0A33D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B2C0EB-5AD1-49DA-BF78-A3ED742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362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Multi-channel/toggle/random inputs create richer independent motion.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8C62A-1872-475B-8602-76557CA9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E69072-470A-48AE-8C0A-E973D713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2362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Noise-free and sensor-noise cases should be validated separately.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f5112b5084d18"/>
          <a:stretch xmlns:a="http://schemas.openxmlformats.org/drawingml/2006/main"/>
        </p:blipFill>
        <p:spPr>
          <a:xfrm xmlns:a="http://schemas.openxmlformats.org/drawingml/2006/main">
            <a:off x="4547322" y="4457700"/>
            <a:ext cx="1649557" cy="11430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196339-C751-41EB-9D29-F9B13276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483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Example report graph: SysID RMSE by plant and excitation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FF96AA-F921-43F8-B903-15DE5650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12FB51-2D29-4C58-A139-A8616CB6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33832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8154E-C22B-4112-BE57-E4A4C2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F55BA-E35E-4043-989D-8CA8ECC8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4CB54-A33C-4B41-B26B-82C2D2E2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Validation Types Covered by the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8251C-802E-41BA-A73F-15C21898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308E4-6A9D-4BA8-A6CE-A9C0ED7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814F8-19A7-46D8-BCC2-716173CB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5AAAD-2503-4592-867B-499851B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Paper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8B296-E691-4ACC-B936-A714FD8B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Parameter extraction and paper-reference comparison for EA, R, L, J, f, and 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F8085-A2AB-4DD3-90A0-721E480B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239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6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CD73A-E06C-43F0-8DD8-8E59594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76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A5A4"/>
                </a:solidFill>
                <a:latin typeface="Aptos"/>
                <a:ea typeface="Aptos"/>
                <a:cs typeface="Aptos"/>
              </a:rPr>
              <a:t>Logging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BC743-1CBF-4B86-8928-69D6D2A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811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Compares Tlog = 1-100 ms and checks how PLC data rate affects RMSE_theta.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61E78-148E-46FD-A894-EC2B039F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239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50E31-90D0-4045-9A2E-CE71734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76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Excitation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BCCE2-9F0B-4994-B8A4-305F99CD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811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Compares ET1, ET3, ET6, E_Toggle, and EVR under noise-free and sensor-noise cases.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753AD-3256-4070-869E-71079F52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239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2B43C-B46A-4DD0-B46E-F51816B7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76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Drift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E40A9-ED27-437C-9C8B-4826EFD5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Compares EA drift, friction f drift, and reel inertia J drift sensitivity.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B7D03-F620-4258-B4C2-642A4B24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4AAB6-3F1B-4093-B07E-3DFC82A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Retuning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739FC-3CCD-43AC-ABD2-6747BB34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099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Compares CS-BO(30), HGS-only, HGS+BO(5), and HGS+BO(10).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47E5C-3101-464E-9F39-24E39319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335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BF3F7-4FB3-42C2-8AE2-DEBED49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66875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939FD-126E-43EA-AD8F-2B81387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335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C756C-04B6-4623-A930-3B95E664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66875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1E9F5-A633-47EC-93C5-72352417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335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162D4-7F03-4A85-8103-FFA28B7F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66875"/>
            <a:ext cx="133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62A6C-CDCF-4ED2-BCAB-D1071A67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C5A23-1EB2-4A6F-8662-97DB891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F38"/>
                </a:solidFill>
                <a:latin typeface="Aptos"/>
                <a:ea typeface="Aptos"/>
                <a:cs typeface="Aptos"/>
              </a:rPr>
              <a:t>Retuning cost used in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5FA3C-09B3-43A2-A4BB-942A3ED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445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defRPr>
            </a:pPr>
            <a:r>
              <a:rPr sz="960" b="0">
                <a:solidFill>
                  <a:srgbClr val="17324D"/>
                </a:solidFill>
                <a:latin typeface="Aptos Mono"/>
                <a:ea typeface="Aptos Mono"/>
                <a:cs typeface="Aptos Mono"/>
              </a:rPr>
              <a:t>cost = RMSE + 0.25*overshoot + 0.15*t90 + 0.015*control_effort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36AAE-4D3E-46B1-86B9-0703912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4340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3620C-64FC-4794-B192-67C57931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question answered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6B1256-DD3A-4E12-B495-CB8B6DA0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91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DF3C9-666E-4B68-942A-097DE20A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Does the app reproduce the paper-style claim?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BC209F-1E5A-49E3-8CB9-30D7FEAD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2367C-6B8C-4BCD-A060-BD0F7901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Which plant/excitation/logging/noise condition changes the result?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E08712-18CE-45ED-9ACD-A1B905A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81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8E9817-5503-4DD8-BB37-6C8EEA4A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14950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What calculation produced the displayed number?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62671A-45D8-4627-8140-96DA3BA7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6D73B6-0997-46C4-9239-5BAF916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719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 result tabs include worked calculations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F7251B-475C-4FB9-966A-3593C77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98EAF3-E3B2-43F9-930E-CE760E53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72973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69DE6-5959-47FF-B5A3-C3AC682B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79DF2-064A-4EDF-8937-4D537CC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41FB7-36D5-4382-B6D8-D47B70EF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8"/>
                </a:solidFill>
                <a:latin typeface="Aptos Display"/>
                <a:ea typeface="Aptos Display"/>
                <a:cs typeface="Aptos Display"/>
              </a:rPr>
              <a:t>Future Work and Next Validation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C45CF-0DD8-4DA5-B953-2C932C86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R2R SysID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79C3E-6744-417D-9DA0-6618A73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01747-6246-4105-9A7B-0DB751F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8585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6"/>
          </a:solidFill>
          <a:ln xmlns:a="http://schemas.openxmlformats.org/drawingml/2006/main" w="9525">
            <a:solidFill>
              <a:srgbClr val="BFED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E5EBD-AAD2-4843-B9A7-EA7CE27B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A5A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A4"/>
                </a:solidFill>
                <a:latin typeface="Aptos"/>
                <a:ea typeface="Aptos"/>
                <a:cs typeface="Aptos"/>
              </a:rPr>
              <a:t>Noise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EE31E-3C0D-4A66-9C1B-9DE9D017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33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28EE6-0E5F-407B-8A50-2A9E9773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6685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 separate noise-free and sensor-noise validation sweeps.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22A0D-C938-4C28-B67B-EA8042A0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5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1A464-5A94-44F9-8F32-07C60404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Quantify how tension sensor noise and omega noise change RMSE_theta.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43F9F-C974-4F41-9E79-DA451EC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4F13D-E025-400A-9664-FAF5D229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Add acceptance thresholds for each sensor-noise level.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69B55-A33A-47DE-99D1-36782E2E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8585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BBE7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D3F72-9C8D-49EA-B15A-6E93A2E0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001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Plant fidelity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DD164-8AF9-4C35-8D5D-763ADA99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33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A7DFF-367A-4AFA-B37C-996E87B9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6685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Load exact per-plant R, L, J, f, and b arrays when 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8EC3D-57BB-4704-B8E5-EFB8E5F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95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6F8F1-CA47-4082-BC82-B0E97C2D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2880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Retune excitation limits for P03-P10 high-EA plants.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D0DA2-0F8A-4F4A-BF2B-B8919E2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57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541EA-8805-406D-BF9C-8AE364B0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Separate paper-reference validation from reduced-model safety policy.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DD34B-2E0D-439D-A7D2-3BCA095C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08585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8B4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73C94-8F4B-4223-B3DA-A51DBB8C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Retuning extensions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B534D-95C1-46B8-BE1A-EDE26981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33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31DC1-15DB-4073-B8C7-FF94DD0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Extend BO and HGS retuning from deterministic comparison to plant-specific optimization.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548059-DD0F-4F41-8C32-64EC0D5A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95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63B2D-2CBE-4C52-A1B4-25BFE291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Track real-evaluation budget, final cost, and tension performance together.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2217E-90E1-43DD-BD85-42B22746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57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261846-FC3B-4C5A-A9A9-F0C5DA0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25908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Compare HGS+BO(5) with longer BO budgets across all plants.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D779A-7BC0-4149-84A1-CD9779C1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4895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1328E-9542-4C9D-805A-F009C79B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459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Dashboard components to mature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857927-ADF8-4D74-A18E-A01A4745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B5B512-BA59-4236-9ACA-D70B2114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report generator: one-click PDF/DOCX/PPTX summaries from dashboard runs.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0DAA56-CD12-49EE-8DF3-EB15E850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622564-A8F8-4228-B33E-73333082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430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Plant/excitation comparison charts: heatmaps, grouped bars, and ranked tables.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CFC597-FCA7-413A-8ECA-BEEECCD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48D805-F56D-4160-A200-73A26CB0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430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Equation calculation examples: keep formulas synchronized with backend routes.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ACF9DC-B278-4E54-8A45-A04CD842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0400"/>
            <a:ext cx="4800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4A1C06-D70A-458B-A5D6-5CCCFDAA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449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Research validation target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249F9C-2372-43A9-9221-FF21C37D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43BE1F-DD73-45ED-A7B4-C5A4495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4229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 every tab, state the paper claim, run the matching dashboard scenario, and report the numerical difference.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9335C8-5245-45C4-A752-68ACC016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10CDC4-2CE4-4550-8F4E-455DE82C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229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Document when a result is a full dynamic validation versus a safety-policy placeholder.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87C7C0-7D51-4BE4-916D-79F221F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5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9DFAD5-FF29-4EFB-A4F8-66974AA5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4229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 outputs traceable: route, equation, input plant, excitation, noise, and metric.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1A854-CE68-4E6A-87C5-1DFD5078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1020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87376D-75E6-4014-8FB8-F1CA5D49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57825"/>
            <a:ext cx="542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milestone: validated noise-free/sensor-noise SysID report with BO/HGS retuning per plant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C3ADFA-EE74-450C-824C-691209A8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mathematics, plant presets, excitation studies, and validation outputs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C657EB-2C6F-4C14-B026-830B4E76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9584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2026-06-03T12:37:44.6130000Z</dcterms:created>
  <dcterms:modified xsi:type="dcterms:W3CDTF">2026-06-03T12:37:44.6130000Z</dcterms:modified>
</coreProperties>
</file>